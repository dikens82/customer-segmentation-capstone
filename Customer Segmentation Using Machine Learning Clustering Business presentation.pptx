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5" r:id="rId6"/>
    <p:sldId id="264" r:id="rId7"/>
    <p:sldId id="259" r:id="rId8"/>
    <p:sldId id="260" r:id="rId9"/>
    <p:sldId id="258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7" d="100"/>
          <a:sy n="57" d="100"/>
        </p:scale>
        <p:origin x="126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/>
      <dgm:spPr/>
      <dgm:t>
        <a:bodyPr/>
        <a:lstStyle/>
        <a:p>
          <a:pPr>
            <a:buNone/>
          </a:pPr>
          <a:r>
            <a:rPr lang="en-US" dirty="0"/>
            <a:t>Current Business Challenge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Customers have different purchasing behaviors. </a:t>
          </a:r>
          <a:endParaRPr lang="en-US" sz="1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en-US" dirty="0"/>
            <a:t>Why It Matters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pPr>
            <a:buNone/>
          </a:pPr>
          <a:r>
            <a:rPr lang="en-US" sz="2400" dirty="0"/>
            <a:t>Understanding customer differences is essential for maximizing revenue and customer loyalty.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pPr>
            <a:buNone/>
          </a:pPr>
          <a:r>
            <a:rPr lang="en-US" sz="2400" dirty="0"/>
            <a:t>👥 Customers           📈 Revenue           🎯 Marketing</a:t>
          </a:r>
          <a:endParaRPr lang="en-US" sz="24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DD49770F-9998-4036-BE27-E742299EEA3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Marketing campaigns are often applied uniformly. </a:t>
          </a:r>
        </a:p>
      </dgm:t>
    </dgm:pt>
    <dgm:pt modelId="{9C53D3D5-626C-48E8-8411-183AE1267570}" type="parTrans" cxnId="{A6C40252-F75D-4721-9F46-483470E533F7}">
      <dgm:prSet/>
      <dgm:spPr/>
      <dgm:t>
        <a:bodyPr/>
        <a:lstStyle/>
        <a:p>
          <a:endParaRPr lang="en-US"/>
        </a:p>
      </dgm:t>
    </dgm:pt>
    <dgm:pt modelId="{2883ED2E-47DB-4B73-A0D6-392AB47DF18B}" type="sibTrans" cxnId="{A6C40252-F75D-4721-9F46-483470E533F7}">
      <dgm:prSet/>
      <dgm:spPr/>
      <dgm:t>
        <a:bodyPr/>
        <a:lstStyle/>
        <a:p>
          <a:endParaRPr lang="en-US"/>
        </a:p>
      </dgm:t>
    </dgm:pt>
    <dgm:pt modelId="{54E8D9D0-DD2E-49C7-9D61-67C319F9280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High-value customers may not receive appropriate attention. </a:t>
          </a:r>
        </a:p>
      </dgm:t>
    </dgm:pt>
    <dgm:pt modelId="{FA6DF872-B48D-41E1-BB74-CECE98939AF1}" type="parTrans" cxnId="{03F92868-6F39-4B78-B999-576035BDD6B3}">
      <dgm:prSet/>
      <dgm:spPr/>
      <dgm:t>
        <a:bodyPr/>
        <a:lstStyle/>
        <a:p>
          <a:endParaRPr lang="en-US"/>
        </a:p>
      </dgm:t>
    </dgm:pt>
    <dgm:pt modelId="{5A4BFC34-A802-4E76-A319-E18DD620C8B1}" type="sibTrans" cxnId="{03F92868-6F39-4B78-B999-576035BDD6B3}">
      <dgm:prSet/>
      <dgm:spPr/>
      <dgm:t>
        <a:bodyPr/>
        <a:lstStyle/>
        <a:p>
          <a:endParaRPr lang="en-US"/>
        </a:p>
      </dgm:t>
    </dgm:pt>
    <dgm:pt modelId="{434BEFED-50FF-4FF0-8F87-67B920AB79A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Inactive customers may be overlooked.</a:t>
          </a:r>
        </a:p>
      </dgm:t>
    </dgm:pt>
    <dgm:pt modelId="{557B56E3-6D14-44A8-9FAA-D5F24A3FB419}" type="parTrans" cxnId="{3DDB2762-874A-4C4A-871B-33C2E6FD2FE3}">
      <dgm:prSet/>
      <dgm:spPr/>
      <dgm:t>
        <a:bodyPr/>
        <a:lstStyle/>
        <a:p>
          <a:endParaRPr lang="en-US"/>
        </a:p>
      </dgm:t>
    </dgm:pt>
    <dgm:pt modelId="{C145D5AB-00B9-44AC-AF80-E946CAD35018}" type="sibTrans" cxnId="{3DDB2762-874A-4C4A-871B-33C2E6FD2FE3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2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2">
        <dgm:presLayoutVars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C5E388B6-9DC4-45F3-8B25-A0F14AD8FA37}" type="pres">
      <dgm:prSet presAssocID="{2A9B6C90-9B70-4ED8-9084-8651413BB905}" presName="linNode" presStyleCnt="0"/>
      <dgm:spPr/>
    </dgm:pt>
    <dgm:pt modelId="{C9459820-2F9A-4A3D-BC01-72D0C7AB0E66}" type="pres">
      <dgm:prSet presAssocID="{2A9B6C90-9B70-4ED8-9084-8651413BB905}" presName="parentText" presStyleLbl="node1" presStyleIdx="2" presStyleCnt="3" custScaleX="277778">
        <dgm:presLayoutVars>
          <dgm:chMax val="1"/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3DDB2762-874A-4C4A-871B-33C2E6FD2FE3}" srcId="{0D51337A-31FA-4717-B2BF-9243F96D2B9B}" destId="{434BEFED-50FF-4FF0-8F87-67B920AB79A5}" srcOrd="3" destOrd="0" parTransId="{557B56E3-6D14-44A8-9FAA-D5F24A3FB419}" sibTransId="{C145D5AB-00B9-44AC-AF80-E946CAD35018}"/>
    <dgm:cxn modelId="{03F92868-6F39-4B78-B999-576035BDD6B3}" srcId="{0D51337A-31FA-4717-B2BF-9243F96D2B9B}" destId="{54E8D9D0-DD2E-49C7-9D61-67C319F92808}" srcOrd="2" destOrd="0" parTransId="{FA6DF872-B48D-41E1-BB74-CECE98939AF1}" sibTransId="{5A4BFC34-A802-4E76-A319-E18DD620C8B1}"/>
    <dgm:cxn modelId="{1D59D94A-4BF7-417E-B49B-225C005839A9}" srcId="{81269538-BFC5-48BB-BEA1-D7AF1F385FD5}" destId="{2A9B6C90-9B70-4ED8-9084-8651413BB905}" srcOrd="2" destOrd="0" parTransId="{47C005B7-F5AA-4111-A87D-782B117A0259}" sibTransId="{54109FB3-0563-4B2C-BFF0-181E047427F8}"/>
    <dgm:cxn modelId="{06A21A4D-D65F-4612-84BF-C7686B1BE0D4}" type="presOf" srcId="{434BEFED-50FF-4FF0-8F87-67B920AB79A5}" destId="{6FB9694A-6C63-4B23-90F6-4F208C00D399}" srcOrd="0" destOrd="3" presId="urn:microsoft.com/office/officeart/2005/8/layout/vList5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A6C40252-F75D-4721-9F46-483470E533F7}" srcId="{0D51337A-31FA-4717-B2BF-9243F96D2B9B}" destId="{DD49770F-9998-4036-BE27-E742299EEA33}" srcOrd="1" destOrd="0" parTransId="{9C53D3D5-626C-48E8-8411-183AE1267570}" sibTransId="{2883ED2E-47DB-4B73-A0D6-392AB47DF18B}"/>
    <dgm:cxn modelId="{5B273274-3F44-4F4B-89AD-45F9B24DD1C9}" type="presOf" srcId="{DD49770F-9998-4036-BE27-E742299EEA33}" destId="{6FB9694A-6C63-4B23-90F6-4F208C00D399}" srcOrd="0" destOrd="1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D9A999C1-B7BA-482E-AE46-A7D6A9F06144}" type="presOf" srcId="{54E8D9D0-DD2E-49C7-9D61-67C319F92808}" destId="{6FB9694A-6C63-4B23-90F6-4F208C00D399}" srcOrd="0" destOrd="2" presId="urn:microsoft.com/office/officeart/2005/8/layout/vList5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7BB440EF-2F29-4CE0-AE37-6624262C4EDC}" type="presOf" srcId="{2A9B6C90-9B70-4ED8-9084-8651413BB905}" destId="{C9459820-2F9A-4A3D-BC01-72D0C7AB0E66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E9A27B14-EA9D-45BC-91E4-BC13B8FE58E8}" type="presParOf" srcId="{99FD7F24-5BB9-46E8-BB7C-4B477B73B815}" destId="{C5E388B6-9DC4-45F3-8B25-A0F14AD8FA37}" srcOrd="4" destOrd="0" presId="urn:microsoft.com/office/officeart/2005/8/layout/vList5"/>
    <dgm:cxn modelId="{282D85D5-DF28-4FF0-8B63-4B204E884222}" type="presParOf" srcId="{C5E388B6-9DC4-45F3-8B25-A0F14AD8FA37}" destId="{C9459820-2F9A-4A3D-BC01-72D0C7AB0E6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/>
      <dgm:spPr/>
      <dgm:t>
        <a:bodyPr/>
        <a:lstStyle/>
        <a:p>
          <a:r>
            <a:rPr lang="en-US" dirty="0"/>
            <a:t>What We Learned About Our Customers</a:t>
          </a:r>
          <a:endParaRPr lang="en-US" b="1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/>
      <dgm:t>
        <a:bodyPr/>
        <a:lstStyle/>
        <a:p>
          <a:pPr>
            <a:buNone/>
          </a:pPr>
          <a:r>
            <a:rPr lang="en-US" dirty="0"/>
            <a:t>Analysis revealed significant differences in customer behavior: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Sales Distribution</a:t>
          </a:r>
          <a:endParaRPr lang="en-US" sz="2400" b="1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2A5012BF-89BF-4F95-9675-32C38B026D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Some customers purchase frequently and spend heavily. </a:t>
          </a:r>
        </a:p>
      </dgm:t>
    </dgm:pt>
    <dgm:pt modelId="{FD51A134-8563-44BC-A019-33DF3C72E7F9}" type="parTrans" cxnId="{E4414B87-B568-4190-9235-757E693C9D2E}">
      <dgm:prSet/>
      <dgm:spPr/>
      <dgm:t>
        <a:bodyPr/>
        <a:lstStyle/>
        <a:p>
          <a:endParaRPr lang="en-US"/>
        </a:p>
      </dgm:t>
    </dgm:pt>
    <dgm:pt modelId="{F42BEE45-CC89-496E-A8FE-59EB26CDB4AF}" type="sibTrans" cxnId="{E4414B87-B568-4190-9235-757E693C9D2E}">
      <dgm:prSet/>
      <dgm:spPr/>
      <dgm:t>
        <a:bodyPr/>
        <a:lstStyle/>
        <a:p>
          <a:endParaRPr lang="en-US"/>
        </a:p>
      </dgm:t>
    </dgm:pt>
    <dgm:pt modelId="{1FFDA7C7-3C8C-49FD-860D-3ACFB53EF3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Some customers purchase occasionally</a:t>
          </a:r>
        </a:p>
      </dgm:t>
    </dgm:pt>
    <dgm:pt modelId="{CDA145F0-EDEC-4BE9-BAF3-C1128A8F1FE5}" type="parTrans" cxnId="{30B47869-ED1B-4391-AF6C-0E5B4ADC606F}">
      <dgm:prSet/>
      <dgm:spPr/>
      <dgm:t>
        <a:bodyPr/>
        <a:lstStyle/>
        <a:p>
          <a:endParaRPr lang="en-US"/>
        </a:p>
      </dgm:t>
    </dgm:pt>
    <dgm:pt modelId="{579C314B-89DC-4D68-A454-3D2F88DA415D}" type="sibTrans" cxnId="{30B47869-ED1B-4391-AF6C-0E5B4ADC606F}">
      <dgm:prSet/>
      <dgm:spPr/>
      <dgm:t>
        <a:bodyPr/>
        <a:lstStyle/>
        <a:p>
          <a:endParaRPr lang="en-US"/>
        </a:p>
      </dgm:t>
    </dgm:pt>
    <dgm:pt modelId="{AF857C2C-A815-4A1E-9C27-C25E6A9D61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Some customers have not purchased recently. </a:t>
          </a:r>
        </a:p>
      </dgm:t>
    </dgm:pt>
    <dgm:pt modelId="{2035A75C-D013-44FD-9988-7EA9857E1C68}" type="parTrans" cxnId="{DF0A042B-AFA8-40EA-86E7-3E33A95F5313}">
      <dgm:prSet/>
      <dgm:spPr/>
      <dgm:t>
        <a:bodyPr/>
        <a:lstStyle/>
        <a:p>
          <a:endParaRPr lang="en-US"/>
        </a:p>
      </dgm:t>
    </dgm:pt>
    <dgm:pt modelId="{0665C918-5AB9-45D2-BFEC-6A22B70E2DC8}" type="sibTrans" cxnId="{DF0A042B-AFA8-40EA-86E7-3E33A95F5313}">
      <dgm:prSet/>
      <dgm:spPr/>
      <dgm:t>
        <a:bodyPr/>
        <a:lstStyle/>
        <a:p>
          <a:endParaRPr lang="en-US"/>
        </a:p>
      </dgm:t>
    </dgm:pt>
    <dgm:pt modelId="{4C5ACDDD-3BA5-44CF-9C15-92C8BAD151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Revenue is concentrated among a smaller group of customers.</a:t>
          </a:r>
        </a:p>
      </dgm:t>
    </dgm:pt>
    <dgm:pt modelId="{19E8B7A9-FDCA-40D4-A32F-D63D4175F6EF}" type="parTrans" cxnId="{FF55DBED-5B3C-4D75-8D61-93F2713D2604}">
      <dgm:prSet/>
      <dgm:spPr/>
      <dgm:t>
        <a:bodyPr/>
        <a:lstStyle/>
        <a:p>
          <a:endParaRPr lang="en-US"/>
        </a:p>
      </dgm:t>
    </dgm:pt>
    <dgm:pt modelId="{85C36CC6-0A9B-4B3F-A593-00F245BEA0E6}" type="sibTrans" cxnId="{FF55DBED-5B3C-4D75-8D61-93F2713D2604}">
      <dgm:prSet/>
      <dgm:spPr/>
      <dgm:t>
        <a:bodyPr/>
        <a:lstStyle/>
        <a:p>
          <a:endParaRPr lang="en-US"/>
        </a:p>
      </dgm:t>
    </dgm:pt>
    <dgm:pt modelId="{6CD21914-F52D-4567-8581-FCD20F1F43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45193CDD-F303-4223-9646-17329FBAAC13}" type="parTrans" cxnId="{390C94D8-6F45-4A5A-BC8B-91CDC7F401C1}">
      <dgm:prSet/>
      <dgm:spPr/>
    </dgm:pt>
    <dgm:pt modelId="{324D01FF-0A58-402D-94C4-8D0B8DD11B54}" type="sibTrans" cxnId="{390C94D8-6F45-4A5A-BC8B-91CDC7F401C1}">
      <dgm:prSet/>
      <dgm:spPr/>
    </dgm:pt>
    <dgm:pt modelId="{05A547FF-C6EC-4EC6-878D-90BFDE16C6E1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. </a:t>
          </a:r>
        </a:p>
      </dgm:t>
    </dgm:pt>
    <dgm:pt modelId="{9C3FA828-10B4-4ED1-92D6-087C103FF5E9}" type="parTrans" cxnId="{1BF298A1-6CE1-4886-8B17-506C62B608BE}">
      <dgm:prSet/>
      <dgm:spPr/>
    </dgm:pt>
    <dgm:pt modelId="{09E539C0-8058-4FBD-8B23-45991AA207DF}" type="sibTrans" cxnId="{1BF298A1-6CE1-4886-8B17-506C62B608BE}">
      <dgm:prSet/>
      <dgm:spPr/>
    </dgm:pt>
    <dgm:pt modelId="{33E0CA05-312D-4779-BC66-527D8800E3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B5A68F79-932A-4AE4-8E46-FA85ABE72877}" type="parTrans" cxnId="{C0A39901-9C5D-4DAD-8D5D-B3362DC5C6F9}">
      <dgm:prSet/>
      <dgm:spPr/>
    </dgm:pt>
    <dgm:pt modelId="{A5099F87-56F6-4A45-B9E4-C620A76DB35A}" type="sibTrans" cxnId="{C0A39901-9C5D-4DAD-8D5D-B3362DC5C6F9}">
      <dgm:prSet/>
      <dgm:spPr/>
    </dgm:pt>
    <dgm:pt modelId="{E20BA876-B0DA-49C7-BFE6-6B94712E2266}">
      <dgm:prSet phldrT="[Text]"/>
      <dgm:spPr/>
      <dgm:t>
        <a:bodyPr/>
        <a:lstStyle/>
        <a:p>
          <a:pPr>
            <a:buNone/>
          </a:pP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586BC39-82E3-4930-B4F3-685A01867A72}" type="parTrans" cxnId="{55AAACE9-F908-40FC-8BBF-C2231F82FBF5}">
      <dgm:prSet/>
      <dgm:spPr/>
    </dgm:pt>
    <dgm:pt modelId="{C37FC9AB-2B89-4171-9ED2-4E2C717722E8}" type="sibTrans" cxnId="{55AAACE9-F908-40FC-8BBF-C2231F82FBF5}">
      <dgm:prSet/>
      <dgm:spPr/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2" custScaleX="132442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2" custScaleX="128080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2" custScaleX="166228" custLinFactNeighborX="53483" custLinFactNeighborY="-3495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2" custLinFactNeighborX="13923">
        <dgm:presLayoutVars>
          <dgm:bulletEnabled val="1"/>
        </dgm:presLayoutVars>
      </dgm:prSet>
      <dgm:spPr/>
    </dgm:pt>
  </dgm:ptLst>
  <dgm:cxnLst>
    <dgm:cxn modelId="{C0A39901-9C5D-4DAD-8D5D-B3362DC5C6F9}" srcId="{6857B86A-DEC1-407C-A1BB-5BF9ACCBCA6A}" destId="{33E0CA05-312D-4779-BC66-527D8800E30D}" srcOrd="4" destOrd="0" parTransId="{B5A68F79-932A-4AE4-8E46-FA85ABE72877}" sibTransId="{A5099F87-56F6-4A45-B9E4-C620A76DB35A}"/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3B123616-CD6F-4EC1-A11D-941745F0CF1A}" type="presOf" srcId="{E20BA876-B0DA-49C7-BFE6-6B94712E2266}" destId="{17CA1487-CDD9-4364-92F6-A11DBDAFE16C}" srcOrd="0" destOrd="1" presId="urn:microsoft.com/office/officeart/2005/8/layout/hList1"/>
    <dgm:cxn modelId="{DFEEDF18-A8DF-4331-AB15-929F47F642A9}" type="presOf" srcId="{6CD21914-F52D-4567-8581-FCD20F1F434D}" destId="{17CA1487-CDD9-4364-92F6-A11DBDAFE16C}" srcOrd="0" destOrd="3" presId="urn:microsoft.com/office/officeart/2005/8/layout/hList1"/>
    <dgm:cxn modelId="{DF0A042B-AFA8-40EA-86E7-3E33A95F5313}" srcId="{05A547FF-C6EC-4EC6-878D-90BFDE16C6E1}" destId="{AF857C2C-A815-4A1E-9C27-C25E6A9D6146}" srcOrd="0" destOrd="0" parTransId="{2035A75C-D013-44FD-9988-7EA9857E1C68}" sibTransId="{0665C918-5AB9-45D2-BFEC-6A22B70E2DC8}"/>
    <dgm:cxn modelId="{32F29B46-39B6-47DB-A0F2-AD794CD30054}" type="presOf" srcId="{4C8BFA56-3F75-4CAD-90A3-2F214D699322}" destId="{17CA1487-CDD9-4364-92F6-A11DBDAFE16C}" srcOrd="0" destOrd="0" presId="urn:microsoft.com/office/officeart/2005/8/layout/hList1"/>
    <dgm:cxn modelId="{9F23AA46-E40D-4F02-A2A7-7946A5AE2C07}" type="presOf" srcId="{AF857C2C-A815-4A1E-9C27-C25E6A9D6146}" destId="{17CA1487-CDD9-4364-92F6-A11DBDAFE16C}" srcOrd="0" destOrd="6" presId="urn:microsoft.com/office/officeart/2005/8/layout/hList1"/>
    <dgm:cxn modelId="{2E534567-FA41-43F3-8438-0B6BFA60F7BD}" type="presOf" srcId="{6857B86A-DEC1-407C-A1BB-5BF9ACCBCA6A}" destId="{F0C1B2C7-0B23-4FE8-AB0F-5877B88532DB}" srcOrd="0" destOrd="0" presId="urn:microsoft.com/office/officeart/2005/8/layout/hList1"/>
    <dgm:cxn modelId="{30B47869-ED1B-4391-AF6C-0E5B4ADC606F}" srcId="{6CD21914-F52D-4567-8581-FCD20F1F434D}" destId="{1FFDA7C7-3C8C-49FD-860D-3ACFB53EF3EE}" srcOrd="0" destOrd="0" parTransId="{CDA145F0-EDEC-4BE9-BAF3-C1128A8F1FE5}" sibTransId="{579C314B-89DC-4D68-A454-3D2F88DA415D}"/>
    <dgm:cxn modelId="{60C6B681-CF86-450C-BA06-B9F10B5AE792}" type="presOf" srcId="{1FFDA7C7-3C8C-49FD-860D-3ACFB53EF3EE}" destId="{17CA1487-CDD9-4364-92F6-A11DBDAFE16C}" srcOrd="0" destOrd="4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E4414B87-B568-4190-9235-757E693C9D2E}" srcId="{E20BA876-B0DA-49C7-BFE6-6B94712E2266}" destId="{2A5012BF-89BF-4F95-9675-32C38B026DF2}" srcOrd="0" destOrd="0" parTransId="{FD51A134-8563-44BC-A019-33DF3C72E7F9}" sibTransId="{F42BEE45-CC89-496E-A8FE-59EB26CDB4AF}"/>
    <dgm:cxn modelId="{0304D297-AB15-450B-89B5-26A07A377BF0}" type="presOf" srcId="{05A547FF-C6EC-4EC6-878D-90BFDE16C6E1}" destId="{17CA1487-CDD9-4364-92F6-A11DBDAFE16C}" srcOrd="0" destOrd="5" presId="urn:microsoft.com/office/officeart/2005/8/layout/hList1"/>
    <dgm:cxn modelId="{79D9259A-E445-4C86-96DD-0D84120174D9}" type="presOf" srcId="{33E0CA05-312D-4779-BC66-527D8800E30D}" destId="{17CA1487-CDD9-4364-92F6-A11DBDAFE16C}" srcOrd="0" destOrd="7" presId="urn:microsoft.com/office/officeart/2005/8/layout/hList1"/>
    <dgm:cxn modelId="{1BF298A1-6CE1-4886-8B17-506C62B608BE}" srcId="{6857B86A-DEC1-407C-A1BB-5BF9ACCBCA6A}" destId="{05A547FF-C6EC-4EC6-878D-90BFDE16C6E1}" srcOrd="3" destOrd="0" parTransId="{9C3FA828-10B4-4ED1-92D6-087C103FF5E9}" sibTransId="{09E539C0-8058-4FBD-8B23-45991AA207DF}"/>
    <dgm:cxn modelId="{4F79E7BA-3849-450C-ACC7-03F0E54EF4A2}" type="presOf" srcId="{ABA77F75-8642-4931-8D7E-BE6C6DB9940D}" destId="{055A5EAB-EAE0-4501-8649-31F112FF9AD5}" srcOrd="0" destOrd="0" presId="urn:microsoft.com/office/officeart/2005/8/layout/hList1"/>
    <dgm:cxn modelId="{390C94D8-6F45-4A5A-BC8B-91CDC7F401C1}" srcId="{6857B86A-DEC1-407C-A1BB-5BF9ACCBCA6A}" destId="{6CD21914-F52D-4567-8581-FCD20F1F434D}" srcOrd="2" destOrd="0" parTransId="{45193CDD-F303-4223-9646-17329FBAAC13}" sibTransId="{324D01FF-0A58-402D-94C4-8D0B8DD11B54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55AAACE9-F908-40FC-8BBF-C2231F82FBF5}" srcId="{6857B86A-DEC1-407C-A1BB-5BF9ACCBCA6A}" destId="{E20BA876-B0DA-49C7-BFE6-6B94712E2266}" srcOrd="1" destOrd="0" parTransId="{2586BC39-82E3-4930-B4F3-685A01867A72}" sibTransId="{C37FC9AB-2B89-4171-9ED2-4E2C717722E8}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84E728ED-1C9F-4F10-9308-A11BF1AECE2E}" type="presOf" srcId="{4C5ACDDD-3BA5-44CF-9C15-92C8BAD151A0}" destId="{17CA1487-CDD9-4364-92F6-A11DBDAFE16C}" srcOrd="0" destOrd="8" presId="urn:microsoft.com/office/officeart/2005/8/layout/hList1"/>
    <dgm:cxn modelId="{FF55DBED-5B3C-4D75-8D61-93F2713D2604}" srcId="{33E0CA05-312D-4779-BC66-527D8800E30D}" destId="{4C5ACDDD-3BA5-44CF-9C15-92C8BAD151A0}" srcOrd="0" destOrd="0" parTransId="{19E8B7A9-FDCA-40D4-A32F-D63D4175F6EF}" sibTransId="{85C36CC6-0A9B-4B3F-A593-00F245BEA0E6}"/>
    <dgm:cxn modelId="{E8B9F5FA-CD28-4AEE-950A-92133A30D831}" type="presOf" srcId="{2A5012BF-89BF-4F95-9675-32C38B026DF2}" destId="{17CA1487-CDD9-4364-92F6-A11DBDAFE16C}" srcOrd="0" destOrd="2" presId="urn:microsoft.com/office/officeart/2005/8/layout/hList1"/>
    <dgm:cxn modelId="{D4392449-3C34-4AC6-B1E9-172A2A2E0887}" type="presParOf" srcId="{DE3F77CF-6A8C-4783-A2CE-00E88C4199CB}" destId="{4E69B62D-7E76-4E06-9330-583771E53BDE}" srcOrd="0" destOrd="0" presId="urn:microsoft.com/office/officeart/2005/8/layout/hList1"/>
    <dgm:cxn modelId="{115B2181-7BDD-4567-A5DE-4642C87D44CE}" type="presParOf" srcId="{4E69B62D-7E76-4E06-9330-583771E53BDE}" destId="{F0C1B2C7-0B23-4FE8-AB0F-5877B88532DB}" srcOrd="0" destOrd="0" presId="urn:microsoft.com/office/officeart/2005/8/layout/hList1"/>
    <dgm:cxn modelId="{C319BA5B-6524-4338-8A3A-EDF765344079}" type="presParOf" srcId="{4E69B62D-7E76-4E06-9330-583771E53BDE}" destId="{17CA1487-CDD9-4364-92F6-A11DBDAFE16C}" srcOrd="1" destOrd="0" presId="urn:microsoft.com/office/officeart/2005/8/layout/hList1"/>
    <dgm:cxn modelId="{F8A6D2DA-6DC6-494F-A439-512C29A113CD}" type="presParOf" srcId="{DE3F77CF-6A8C-4783-A2CE-00E88C4199CB}" destId="{3FA24A66-31D3-4A69-B628-8BE88627B97D}" srcOrd="1" destOrd="0" presId="urn:microsoft.com/office/officeart/2005/8/layout/hList1"/>
    <dgm:cxn modelId="{49621B69-799E-41B7-811A-9035C5013B51}" type="presParOf" srcId="{DE3F77CF-6A8C-4783-A2CE-00E88C4199CB}" destId="{3B158D6E-E3AA-49BB-988A-758B59ED8F3B}" srcOrd="2" destOrd="0" presId="urn:microsoft.com/office/officeart/2005/8/layout/hList1"/>
    <dgm:cxn modelId="{36FFE4D3-E41A-48BB-9123-A8125594CD63}" type="presParOf" srcId="{3B158D6E-E3AA-49BB-988A-758B59ED8F3B}" destId="{055A5EAB-EAE0-4501-8649-31F112FF9AD5}" srcOrd="0" destOrd="0" presId="urn:microsoft.com/office/officeart/2005/8/layout/hList1"/>
    <dgm:cxn modelId="{933145E4-3B90-4865-B00C-1C7553F8C364}" type="presParOf" srcId="{3B158D6E-E3AA-49BB-988A-758B59ED8F3B}" destId="{E4FD5043-5612-43C5-B6AE-CCD4315493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279531" y="-2597504"/>
          <a:ext cx="913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Customers have different purchasing behaviors. </a:t>
          </a:r>
          <a:endParaRPr lang="en-US" sz="1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Marketing campaigns are often applied uniformly.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High-value customers may not receive appropriate attention.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Inactive customers may be overlooked.</a:t>
          </a:r>
        </a:p>
      </dsp:txBody>
      <dsp:txXfrm rot="-5400000">
        <a:off x="3566160" y="160441"/>
        <a:ext cx="6295266" cy="823949"/>
      </dsp:txXfrm>
    </dsp:sp>
    <dsp:sp modelId="{3230722F-B757-4673-BD2F-9D4BAB5CEE8D}">
      <dsp:nvSpPr>
        <dsp:cNvPr id="0" name=""/>
        <dsp:cNvSpPr/>
      </dsp:nvSpPr>
      <dsp:spPr>
        <a:xfrm>
          <a:off x="0" y="1729"/>
          <a:ext cx="3566160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Current Business Challenge</a:t>
          </a:r>
          <a:endParaRPr lang="en-US" sz="3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5717" y="57446"/>
        <a:ext cx="3454726" cy="1029938"/>
      </dsp:txXfrm>
    </dsp:sp>
    <dsp:sp modelId="{329ECF1A-78BE-41CB-B252-8011825B67CD}">
      <dsp:nvSpPr>
        <dsp:cNvPr id="0" name=""/>
        <dsp:cNvSpPr/>
      </dsp:nvSpPr>
      <dsp:spPr>
        <a:xfrm rot="5400000">
          <a:off x="6279531" y="-1399064"/>
          <a:ext cx="913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 dirty="0"/>
            <a:t>Understanding customer differences is essential for maximizing revenue and customer loyalty.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3566160" y="1358881"/>
        <a:ext cx="6295266" cy="823949"/>
      </dsp:txXfrm>
    </dsp:sp>
    <dsp:sp modelId="{8A3FE5E4-2689-4041-B2C5-C63BC276A3EF}">
      <dsp:nvSpPr>
        <dsp:cNvPr id="0" name=""/>
        <dsp:cNvSpPr/>
      </dsp:nvSpPr>
      <dsp:spPr>
        <a:xfrm>
          <a:off x="0" y="1200169"/>
          <a:ext cx="3566160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Why It Matters</a:t>
          </a:r>
          <a:endParaRPr lang="en-US" sz="3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5717" y="1255886"/>
        <a:ext cx="3454726" cy="1029938"/>
      </dsp:txXfrm>
    </dsp:sp>
    <dsp:sp modelId="{C9459820-2F9A-4A3D-BC01-72D0C7AB0E66}">
      <dsp:nvSpPr>
        <dsp:cNvPr id="0" name=""/>
        <dsp:cNvSpPr/>
      </dsp:nvSpPr>
      <dsp:spPr>
        <a:xfrm>
          <a:off x="0" y="2398610"/>
          <a:ext cx="9896334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👥 Customers           📈 Revenue           🎯 Marketing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5717" y="2454327"/>
        <a:ext cx="9784900" cy="1029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31" y="240505"/>
          <a:ext cx="4792591" cy="55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What We Learned About Our Customers</a:t>
          </a:r>
          <a:endParaRPr lang="en-US" sz="1600" b="1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1" y="240505"/>
        <a:ext cx="4792591" cy="553298"/>
      </dsp:txXfrm>
    </dsp:sp>
    <dsp:sp modelId="{17CA1487-CDD9-4364-92F6-A11DBDAFE16C}">
      <dsp:nvSpPr>
        <dsp:cNvPr id="0" name=""/>
        <dsp:cNvSpPr/>
      </dsp:nvSpPr>
      <dsp:spPr>
        <a:xfrm>
          <a:off x="78954" y="793804"/>
          <a:ext cx="4634746" cy="34579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Analysis revealed significant differences in customer behavior:</a:t>
          </a: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Some customers purchase frequently and spend heavily.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Some customers purchase occasionally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kern="1200" dirty="0"/>
            <a:t>.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Some customers have not purchased recently.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Revenue is concentrated among a smaller group of customers.</a:t>
          </a:r>
        </a:p>
      </dsp:txBody>
      <dsp:txXfrm>
        <a:off x="78954" y="793804"/>
        <a:ext cx="4634746" cy="3457945"/>
      </dsp:txXfrm>
    </dsp:sp>
    <dsp:sp modelId="{055A5EAB-EAE0-4501-8649-31F112FF9AD5}">
      <dsp:nvSpPr>
        <dsp:cNvPr id="0" name=""/>
        <dsp:cNvSpPr/>
      </dsp:nvSpPr>
      <dsp:spPr>
        <a:xfrm>
          <a:off x="5299263" y="221168"/>
          <a:ext cx="6015182" cy="5532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Sales Distribution</a:t>
          </a:r>
          <a:endParaRPr lang="en-US" sz="2400" b="1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99263" y="221168"/>
        <a:ext cx="6015182" cy="553298"/>
      </dsp:txXfrm>
    </dsp:sp>
    <dsp:sp modelId="{E4FD5043-5612-43C5-B6AE-CCD431549399}">
      <dsp:nvSpPr>
        <dsp:cNvPr id="0" name=""/>
        <dsp:cNvSpPr/>
      </dsp:nvSpPr>
      <dsp:spPr>
        <a:xfrm>
          <a:off x="7001328" y="793804"/>
          <a:ext cx="3618633" cy="34579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05143"/>
            <a:ext cx="8791575" cy="127793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Customer Segmentation Strategy Using Machine Learning</a:t>
            </a:r>
            <a:endParaRPr lang="en-US" sz="32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5" y="1783080"/>
            <a:ext cx="4890136" cy="4366260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Project Goal</a:t>
            </a:r>
            <a:endParaRPr lang="en-US" sz="2400" dirty="0"/>
          </a:p>
          <a:p>
            <a:r>
              <a:rPr lang="en-US" sz="2400" dirty="0"/>
              <a:t>Identify distinct customer groups based on purchasing behavior to support targeted marketing and business growth.</a:t>
            </a:r>
          </a:p>
          <a:p>
            <a:r>
              <a:rPr lang="en-US" sz="2400" b="1" dirty="0"/>
              <a:t>Key Result</a:t>
            </a:r>
            <a:endParaRPr lang="en-US" sz="2400" dirty="0"/>
          </a:p>
          <a:p>
            <a:r>
              <a:rPr lang="en-US" sz="2400" dirty="0"/>
              <a:t>Four customer segments were identified using machine learning clustering techniques.</a:t>
            </a:r>
          </a:p>
          <a:p>
            <a:r>
              <a:rPr lang="en-US" sz="2400" b="1" dirty="0"/>
              <a:t>Business Impact</a:t>
            </a:r>
            <a:endParaRPr lang="en-US" sz="2400" dirty="0"/>
          </a:p>
          <a:p>
            <a:pPr lvl="0"/>
            <a:r>
              <a:rPr lang="en-US" sz="2400" dirty="0"/>
              <a:t>Better customer targeting </a:t>
            </a:r>
          </a:p>
          <a:p>
            <a:pPr lvl="0"/>
            <a:r>
              <a:rPr lang="en-US" sz="2400" dirty="0"/>
              <a:t>Improved customer retention </a:t>
            </a:r>
          </a:p>
          <a:p>
            <a:pPr lvl="0"/>
            <a:r>
              <a:rPr lang="en-US" sz="2400" dirty="0"/>
              <a:t>More efficient marketing campaigns</a:t>
            </a:r>
          </a:p>
          <a:p>
            <a:pPr algn="ctr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BBE3B-A006-B2F7-7406-E4D1671D3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930" y="2034540"/>
            <a:ext cx="4890136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Business Challenge</a:t>
            </a:r>
            <a:endParaRPr lang="en-US" sz="4400" b="1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27212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806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4C9F-3A38-F5AA-6A72-03DBD0D5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0A3E-B53B-5327-F0F8-FFF14389D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38007"/>
            <a:ext cx="6722427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project aimed to:</a:t>
            </a:r>
          </a:p>
          <a:p>
            <a:pPr lvl="0"/>
            <a:r>
              <a:rPr lang="en-US" dirty="0"/>
              <a:t>Segment customers based on purchasing behavior. </a:t>
            </a:r>
          </a:p>
          <a:p>
            <a:pPr lvl="0"/>
            <a:r>
              <a:rPr lang="en-US" dirty="0"/>
              <a:t>Identify high-value and low-engagement customers. </a:t>
            </a:r>
          </a:p>
          <a:p>
            <a:pPr lvl="0"/>
            <a:r>
              <a:rPr lang="en-US" dirty="0"/>
              <a:t>Support personalized marketing strategies. </a:t>
            </a:r>
          </a:p>
          <a:p>
            <a:pPr lvl="0"/>
            <a:r>
              <a:rPr lang="en-US" dirty="0"/>
              <a:t>Improve customer retention and profitability.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B6A23-7861-ABC0-87F7-3C13BD421600}"/>
              </a:ext>
            </a:extLst>
          </p:cNvPr>
          <p:cNvSpPr txBox="1"/>
          <p:nvPr/>
        </p:nvSpPr>
        <p:spPr>
          <a:xfrm rot="10800000" flipV="1">
            <a:off x="8961120" y="2299216"/>
            <a:ext cx="2468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Customer Transactions</a:t>
            </a:r>
          </a:p>
          <a:p>
            <a:r>
              <a:rPr lang="en-US"/>
              <a:t>        ↓</a:t>
            </a:r>
          </a:p>
          <a:p>
            <a:r>
              <a:rPr lang="en-US"/>
              <a:t>     RFM Analysis</a:t>
            </a:r>
          </a:p>
          <a:p>
            <a:r>
              <a:rPr lang="en-US"/>
              <a:t>        ↓</a:t>
            </a:r>
          </a:p>
          <a:p>
            <a:r>
              <a:rPr lang="en-US"/>
              <a:t> Customer Segments</a:t>
            </a:r>
          </a:p>
          <a:p>
            <a:r>
              <a:rPr lang="en-US"/>
              <a:t>        ↓</a:t>
            </a:r>
          </a:p>
          <a:p>
            <a:r>
              <a:rPr lang="en-US"/>
              <a:t> Business 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3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Key Customer Insights</a:t>
            </a:r>
            <a:endParaRPr lang="en-US" sz="4400" b="1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694412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B1DFBB5-381C-8AC5-DF2D-4A5339D91B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2628900"/>
            <a:ext cx="6429023" cy="373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Customer Segments Identified</a:t>
            </a:r>
            <a:br>
              <a:rPr lang="en-US" sz="4400" b="1" dirty="0"/>
            </a:br>
            <a:br>
              <a:rPr lang="en-US" sz="4400" b="1" dirty="0"/>
            </a:br>
            <a:r>
              <a:rPr lang="en-US" sz="3100" b="1" dirty="0"/>
              <a:t>Customer Segments</a:t>
            </a:r>
            <a:br>
              <a:rPr lang="en-US" sz="4400" b="1" dirty="0"/>
            </a:br>
            <a:endParaRPr lang="en-US" sz="4400" b="1" dirty="0">
              <a:latin typeface="Rockwell" panose="02060603020205020403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C0FBD9-5D80-022D-BF5E-D6891362016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4238317"/>
              </p:ext>
            </p:extLst>
          </p:nvPr>
        </p:nvGraphicFramePr>
        <p:xfrm>
          <a:off x="501332" y="2249488"/>
          <a:ext cx="5968048" cy="268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024">
                  <a:extLst>
                    <a:ext uri="{9D8B030D-6E8A-4147-A177-3AD203B41FA5}">
                      <a16:colId xmlns:a16="http://schemas.microsoft.com/office/drawing/2014/main" val="3652742140"/>
                    </a:ext>
                  </a:extLst>
                </a:gridCol>
                <a:gridCol w="2984024">
                  <a:extLst>
                    <a:ext uri="{9D8B030D-6E8A-4147-A177-3AD203B41FA5}">
                      <a16:colId xmlns:a16="http://schemas.microsoft.com/office/drawing/2014/main" val="2860102416"/>
                    </a:ext>
                  </a:extLst>
                </a:gridCol>
              </a:tblGrid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642047"/>
                  </a:ext>
                </a:extLst>
              </a:tr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High-Value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312001"/>
                  </a:ext>
                </a:extLst>
              </a:tr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Loyal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06036"/>
                  </a:ext>
                </a:extLst>
              </a:tr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Occasional Buyers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30385"/>
                  </a:ext>
                </a:extLst>
              </a:tr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Cluster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At-Risk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9974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56A6BF3-D6D3-70A4-B82C-8B272028CF1B}"/>
              </a:ext>
            </a:extLst>
          </p:cNvPr>
          <p:cNvSpPr txBox="1"/>
          <p:nvPr/>
        </p:nvSpPr>
        <p:spPr>
          <a:xfrm>
            <a:off x="297180" y="5212080"/>
            <a:ext cx="1049274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Business Meaning</a:t>
            </a:r>
          </a:p>
          <a:p>
            <a:r>
              <a:rPr lang="en-US" sz="2800" dirty="0"/>
              <a:t>Each segment requires a different engagement strategy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73696E-8A1B-4B49-47BF-4396B06A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930" y="2034541"/>
            <a:ext cx="4890136" cy="31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Strategic Recommendations</a:t>
            </a:r>
            <a:br>
              <a:rPr lang="en-US" sz="4400" b="1" dirty="0"/>
            </a:br>
            <a:br>
              <a:rPr lang="en-US" b="1" dirty="0"/>
            </a:br>
            <a:r>
              <a:rPr lang="en-US" b="1" dirty="0"/>
              <a:t>Recommended Actions</a:t>
            </a:r>
            <a:endParaRPr lang="en-US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139247" cy="3541714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High-Value Customers</a:t>
            </a:r>
          </a:p>
          <a:p>
            <a:pPr lvl="0"/>
            <a:r>
              <a:rPr lang="en-US" dirty="0"/>
              <a:t>VIP programs </a:t>
            </a:r>
          </a:p>
          <a:p>
            <a:pPr lvl="0"/>
            <a:r>
              <a:rPr lang="en-US" dirty="0"/>
              <a:t>Exclusive offers </a:t>
            </a:r>
          </a:p>
          <a:p>
            <a:r>
              <a:rPr lang="en-US" b="1" dirty="0"/>
              <a:t>Loyal Customers</a:t>
            </a:r>
          </a:p>
          <a:p>
            <a:pPr lvl="0"/>
            <a:r>
              <a:rPr lang="en-US" dirty="0"/>
              <a:t>Loyalty rewards </a:t>
            </a:r>
          </a:p>
          <a:p>
            <a:pPr lvl="0"/>
            <a:r>
              <a:rPr lang="en-US" dirty="0"/>
              <a:t>Referral programs </a:t>
            </a:r>
          </a:p>
          <a:p>
            <a:r>
              <a:rPr lang="en-US" b="1" dirty="0"/>
              <a:t>Occasional Buyers</a:t>
            </a:r>
          </a:p>
          <a:p>
            <a:pPr lvl="0"/>
            <a:r>
              <a:rPr lang="en-US" dirty="0"/>
              <a:t>Promotional campaigns </a:t>
            </a:r>
          </a:p>
          <a:p>
            <a:pPr lvl="0"/>
            <a:r>
              <a:rPr lang="en-US" dirty="0"/>
              <a:t>Product recommendations </a:t>
            </a:r>
          </a:p>
          <a:p>
            <a:r>
              <a:rPr lang="en-US" b="1" dirty="0"/>
              <a:t>At-Risk Customers</a:t>
            </a:r>
          </a:p>
          <a:p>
            <a:pPr lvl="0"/>
            <a:r>
              <a:rPr lang="en-US" dirty="0"/>
              <a:t>Reactivation campaigns </a:t>
            </a:r>
          </a:p>
          <a:p>
            <a:pPr lvl="0"/>
            <a:r>
              <a:rPr lang="en-US" dirty="0"/>
              <a:t>Personalized discounts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00CBD1-7B86-F41E-4820-22ED86347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95199"/>
              </p:ext>
            </p:extLst>
          </p:nvPr>
        </p:nvGraphicFramePr>
        <p:xfrm>
          <a:off x="5280660" y="2501900"/>
          <a:ext cx="515572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862">
                  <a:extLst>
                    <a:ext uri="{9D8B030D-6E8A-4147-A177-3AD203B41FA5}">
                      <a16:colId xmlns:a16="http://schemas.microsoft.com/office/drawing/2014/main" val="196383569"/>
                    </a:ext>
                  </a:extLst>
                </a:gridCol>
                <a:gridCol w="2577862">
                  <a:extLst>
                    <a:ext uri="{9D8B030D-6E8A-4147-A177-3AD203B41FA5}">
                      <a16:colId xmlns:a16="http://schemas.microsoft.com/office/drawing/2014/main" val="3921637125"/>
                    </a:ext>
                  </a:extLst>
                </a:gridCol>
              </a:tblGrid>
              <a:tr h="592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674308"/>
                  </a:ext>
                </a:extLst>
              </a:tr>
              <a:tr h="592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VIP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76450"/>
                  </a:ext>
                </a:extLst>
              </a:tr>
              <a:tr h="592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Loyal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Loyalty Rewards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121649"/>
                  </a:ext>
                </a:extLst>
              </a:tr>
              <a:tr h="592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Occasional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Promotions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398885"/>
                  </a:ext>
                </a:extLst>
              </a:tr>
              <a:tr h="592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At-Risk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21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Risks and Ethical Considerations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6128067" cy="35417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Fairness Assessment</a:t>
            </a:r>
          </a:p>
          <a:p>
            <a:pPr lvl="0"/>
            <a:r>
              <a:rPr lang="en-US" dirty="0"/>
              <a:t>No demographic variables were available. </a:t>
            </a:r>
          </a:p>
          <a:p>
            <a:pPr lvl="0"/>
            <a:r>
              <a:rPr lang="en-US" dirty="0"/>
              <a:t>Geographic variables (Country and Territory) were analyzed. </a:t>
            </a:r>
          </a:p>
          <a:p>
            <a:pPr lvl="0"/>
            <a:r>
              <a:rPr lang="en-US" dirty="0"/>
              <a:t>No significant geographic bias was identified. </a:t>
            </a:r>
          </a:p>
          <a:p>
            <a:pPr marL="0" indent="0">
              <a:buNone/>
            </a:pPr>
            <a:r>
              <a:rPr lang="en-US" b="1" dirty="0"/>
              <a:t>Risk Mitigation</a:t>
            </a:r>
          </a:p>
          <a:p>
            <a:pPr lvl="0"/>
            <a:r>
              <a:rPr lang="en-US" dirty="0"/>
              <a:t>Human oversight remains important. </a:t>
            </a:r>
          </a:p>
          <a:p>
            <a:pPr lvl="0"/>
            <a:r>
              <a:rPr lang="en-US" dirty="0"/>
              <a:t>Cluster assignments should support—not replace—business judgment.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D29DF-9205-0F30-9EE3-32536451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249487"/>
            <a:ext cx="4533900" cy="3743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3F7643-C04F-E1B0-3812-40C6474A6C08}"/>
              </a:ext>
            </a:extLst>
          </p:cNvPr>
          <p:cNvSpPr txBox="1"/>
          <p:nvPr/>
        </p:nvSpPr>
        <p:spPr>
          <a:xfrm>
            <a:off x="7437120" y="1783080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 Distribution Across Countries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/>
              <a:t>Business Value and Conclusion</a:t>
            </a:r>
            <a:br>
              <a:rPr lang="en-US" sz="4400" dirty="0"/>
            </a:br>
            <a:br>
              <a:rPr lang="en-US" sz="4400" dirty="0"/>
            </a:br>
            <a:r>
              <a:rPr lang="en-US" sz="3100" b="1" dirty="0"/>
              <a:t>Expected Business Value</a:t>
            </a:r>
            <a:endParaRPr lang="en-US" sz="3100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5190808" cy="3989995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/>
              <a:t>Expected Benefits</a:t>
            </a:r>
          </a:p>
          <a:p>
            <a:pPr lvl="0"/>
            <a:r>
              <a:rPr lang="en-US" sz="2600" dirty="0"/>
              <a:t>Better customer targeting </a:t>
            </a:r>
          </a:p>
          <a:p>
            <a:pPr lvl="0"/>
            <a:r>
              <a:rPr lang="en-US" sz="2600" dirty="0"/>
              <a:t>Improved customer retention </a:t>
            </a:r>
          </a:p>
          <a:p>
            <a:pPr lvl="0"/>
            <a:r>
              <a:rPr lang="en-US" sz="2600" dirty="0"/>
              <a:t>Increased marketing efficiency </a:t>
            </a:r>
          </a:p>
          <a:p>
            <a:pPr lvl="0"/>
            <a:r>
              <a:rPr lang="en-US" sz="2600" dirty="0"/>
              <a:t>Stronger customer relationships </a:t>
            </a:r>
          </a:p>
          <a:p>
            <a:pPr lvl="0"/>
            <a:r>
              <a:rPr lang="en-US" sz="2600" dirty="0"/>
              <a:t>Revenue growth opportunities</a:t>
            </a:r>
          </a:p>
          <a:p>
            <a:r>
              <a:rPr lang="en-US" sz="2600" b="1" dirty="0"/>
              <a:t>Conclusion</a:t>
            </a:r>
          </a:p>
          <a:p>
            <a:r>
              <a:rPr lang="en-US" sz="2600" dirty="0"/>
              <a:t>Machine learning successfully identified meaningful customer segments that can support more effective marketing and business strategies.</a:t>
            </a:r>
          </a:p>
          <a:p>
            <a:pPr lvl="0"/>
            <a:endParaRPr lang="en-US" dirty="0"/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6B416-ED65-A78B-27E8-E063EE11BBE3}"/>
              </a:ext>
            </a:extLst>
          </p:cNvPr>
          <p:cNvSpPr txBox="1"/>
          <p:nvPr/>
        </p:nvSpPr>
        <p:spPr>
          <a:xfrm>
            <a:off x="6858000" y="2097088"/>
            <a:ext cx="468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Sales by Product 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997947-A6A4-8342-44B2-033AE088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566" y="2772706"/>
            <a:ext cx="56292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941</TotalTime>
  <Words>377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Rockwell</vt:lpstr>
      <vt:lpstr>Tahoma</vt:lpstr>
      <vt:lpstr>Tw Cen MT</vt:lpstr>
      <vt:lpstr>Circuit</vt:lpstr>
      <vt:lpstr>Customer Segmentation Strategy Using Machine Learning</vt:lpstr>
      <vt:lpstr>Business Challenge</vt:lpstr>
      <vt:lpstr>Project Objective</vt:lpstr>
      <vt:lpstr>Key Customer Insights</vt:lpstr>
      <vt:lpstr>Customer Segments Identified  Customer Segments </vt:lpstr>
      <vt:lpstr>Strategic Recommendations  Recommended Actions</vt:lpstr>
      <vt:lpstr>Risks and Ethical Considerations</vt:lpstr>
      <vt:lpstr>Business Value and Conclusion  Expected Business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fujitsu</dc:creator>
  <cp:lastModifiedBy>fujitsu</cp:lastModifiedBy>
  <cp:revision>1</cp:revision>
  <dcterms:created xsi:type="dcterms:W3CDTF">2026-08-22T20:06:51Z</dcterms:created>
  <dcterms:modified xsi:type="dcterms:W3CDTF">2026-08-23T11:48:47Z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